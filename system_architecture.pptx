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5303520" cy="228600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530352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1-Tier : Presentation Tier (원내 PC 단말)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88720"/>
            <a:ext cx="21945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188720"/>
            <a:ext cx="2194560" cy="502920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원내 EMR / CPOE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처방 입력 화면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실시간 경고 팝업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194560" cy="1371600"/>
          </a:xfrm>
          <a:prstGeom prst="roundRect">
            <a:avLst/>
          </a:prstGeom>
          <a:solidFill>
            <a:srgbClr val="EBF8FF"/>
          </a:solidFill>
          <a:ln w="19050">
            <a:solidFill>
              <a:srgbClr val="318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91840" y="1188720"/>
            <a:ext cx="2194560" cy="502920"/>
          </a:xfrm>
          <a:prstGeom prst="roundRect">
            <a:avLst/>
          </a:prstGeom>
          <a:solidFill>
            <a:srgbClr val="318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약품정보 전용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373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.NET Client App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약품 상세 가이드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8640"/>
            <a:ext cx="539496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548640"/>
            <a:ext cx="5394960" cy="502920"/>
          </a:xfrm>
          <a:prstGeom prst="round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2-Tier : Business Logic Tier (AP 서버)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0972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.NET 비즈니스 로직 및 컴포넌트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약품 상세 효능·용법·주의사항 데이터 처리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최신 약가 고시 및 제약 마스터 서비스 가공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108960"/>
            <a:ext cx="11064240" cy="3291840"/>
          </a:xfrm>
          <a:prstGeom prst="roundRect">
            <a:avLst/>
          </a:prstGeom>
          <a:solidFill>
            <a:srgbClr val="EDF2F7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11064240" cy="50292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3-Tier : Database Tier (원내 EMR DBMS 환경 - Oracle / MSSQL / PostgreSQL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49039"/>
            <a:ext cx="4937760" cy="2377440"/>
          </a:xfrm>
          <a:prstGeom prst="roundRect">
            <a:avLst/>
          </a:prstGeom>
          <a:solidFill>
            <a:srgbClr val="FEFCB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749039"/>
            <a:ext cx="4937760" cy="502920"/>
          </a:xfrm>
          <a:prstGeom prst="round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원내 EMR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97679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★ 실시간 CDSS Stored Procedure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CPOE 처방 발생 시 DB 내부 직접 호출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병용/연령/임부 금기 및 용량 실시간 판별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네트워크 무지연 (Zero-Latency) 초고속 연산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49039"/>
            <a:ext cx="4937760" cy="2377440"/>
          </a:xfrm>
          <a:prstGeom prst="roundRect">
            <a:avLst/>
          </a:prstGeom>
          <a:solidFill>
            <a:srgbClr val="E6FFFA"/>
          </a:solidFill>
          <a:ln w="19050">
            <a:solidFill>
              <a:srgbClr val="319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3749039"/>
            <a:ext cx="4937760" cy="502920"/>
          </a:xfrm>
          <a:prstGeom prst="roundRect">
            <a:avLst/>
          </a:prstGeom>
          <a:solidFill>
            <a:srgbClr val="319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Malgun Gothic"/>
              </a:defRPr>
            </a:pPr>
            <a:r>
              <a:t>DIF Database (원내 EMR DB 내 스키마 탑재)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79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DIF 약품 마스터 &amp; 임상 룰셋 데이터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의약품 표준 식별 및 제약 마스터 정보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복약지도, 상호작용 및 임상 기준 데이터</a:t>
            </a:r>
          </a:p>
          <a:p>
            <a:pPr>
              <a:defRPr sz="950">
                <a:solidFill>
                  <a:srgbClr val="212529"/>
                </a:solidFill>
                <a:latin typeface="Malgun Gothic"/>
              </a:defRPr>
            </a:pPr>
            <a:r>
              <a:t>• EMR 트랜잭션 동기화 및 무결성 확보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